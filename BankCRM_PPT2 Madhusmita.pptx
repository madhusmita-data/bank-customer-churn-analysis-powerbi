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80" r:id="rId18"/>
    <p:sldId id="270" r:id="rId19"/>
    <p:sldId id="281" r:id="rId20"/>
    <p:sldId id="271" r:id="rId21"/>
    <p:sldId id="272" r:id="rId22"/>
    <p:sldId id="273" r:id="rId23"/>
    <p:sldId id="274" r:id="rId24"/>
    <p:sldId id="277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9FA42-ABFE-4A13-AACE-EEC5A33BB08E}" v="1" dt="2026-08-16T07:29:08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2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2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33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43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41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97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19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32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1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62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9088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31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482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630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6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0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916E9-C38F-4E20-8C28-7D75FECBDB5D}" type="datetimeFigureOut">
              <a:rPr lang="en-IN" smtClean="0"/>
              <a:t>16-Aug-2026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6F9A5F5-6A4D-404C-A236-99EDE6B5F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7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EE624A-778F-4A60-98BE-0F278B1F0BF4}"/>
              </a:ext>
            </a:extLst>
          </p:cNvPr>
          <p:cNvSpPr/>
          <p:nvPr/>
        </p:nvSpPr>
        <p:spPr>
          <a:xfrm>
            <a:off x="8731046" y="5314028"/>
            <a:ext cx="3303639" cy="1209368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Madhusmita</a:t>
            </a:r>
          </a:p>
          <a:p>
            <a:pPr algn="ctr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DS- February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2CB930-DC96-CBC6-E220-7A112CECDFA4}"/>
              </a:ext>
            </a:extLst>
          </p:cNvPr>
          <p:cNvSpPr/>
          <p:nvPr/>
        </p:nvSpPr>
        <p:spPr>
          <a:xfrm>
            <a:off x="0" y="1304105"/>
            <a:ext cx="12192000" cy="1655251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Bank Customer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413569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EDDB-6C46-A9EE-60E7-D05EE4D7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12" y="341930"/>
            <a:ext cx="10695039" cy="87374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Bank Customer Churn Analysis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700" b="1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“Turning Data Into Insights To Retain Customers.”</a:t>
            </a:r>
            <a:endParaRPr lang="en-IN" sz="2700" b="1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98496-7C97-C5C2-C260-5F8B774C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051" y="2141536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Tools: Excel | SQL | Power BI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Documentation: Word | PowerPoint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519AD7C-8C0F-D26E-F21A-B8E9A4BB4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80" y="3888323"/>
            <a:ext cx="1377722" cy="130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ow to Create a Database in MySQL with MySQL Workbench">
            <a:extLst>
              <a:ext uri="{FF2B5EF4-FFF2-40B4-BE49-F238E27FC236}">
                <a16:creationId xmlns:a16="http://schemas.microsoft.com/office/drawing/2014/main" id="{1DC0C717-7D1C-8288-28F3-CB76967BC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571" y="3949028"/>
            <a:ext cx="1898232" cy="118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Microsoft Powerpoint Network Icon PNG Transparent Background ...">
            <a:extLst>
              <a:ext uri="{FF2B5EF4-FFF2-40B4-BE49-F238E27FC236}">
                <a16:creationId xmlns:a16="http://schemas.microsoft.com/office/drawing/2014/main" id="{6D1F7A56-A64C-2058-EB8B-4425E697D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396" y="3708999"/>
            <a:ext cx="1480255" cy="148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Word PNGs for Free Download">
            <a:extLst>
              <a:ext uri="{FF2B5EF4-FFF2-40B4-BE49-F238E27FC236}">
                <a16:creationId xmlns:a16="http://schemas.microsoft.com/office/drawing/2014/main" id="{76F88AD6-2591-A7CF-864D-E6C1C9309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95" y="3585266"/>
            <a:ext cx="1898232" cy="189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wer BI Logo | Information Technology Solutions">
            <a:extLst>
              <a:ext uri="{FF2B5EF4-FFF2-40B4-BE49-F238E27FC236}">
                <a16:creationId xmlns:a16="http://schemas.microsoft.com/office/drawing/2014/main" id="{56992E57-78FA-0BD2-36FD-4B9DF3156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773" y="3787204"/>
            <a:ext cx="1536452" cy="149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23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138A-4996-11C2-9758-33A67EFD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“Why do customers leave the bank?”</a:t>
            </a:r>
            <a:endParaRPr lang="en-IN" sz="4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A083C-0C7F-543F-2CEB-6B55EC1DA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400"/>
            <a:ext cx="940073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bank is facing a high rate of customer churn, impacting revenue and long-term growth. Understanding customer demographics, behaviors, and risk factors is critical to reduce exits and improve satisfaction.</a:t>
            </a:r>
          </a:p>
          <a:p>
            <a:pPr marL="0" indent="0">
              <a:buNone/>
            </a:pPr>
            <a:endParaRPr lang="en-US" sz="19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Agenda / Objective</a:t>
            </a:r>
          </a:p>
          <a:p>
            <a:r>
              <a: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Analyze customer data (demographics, balances, activity, credit score, exits).</a:t>
            </a:r>
          </a:p>
          <a:p>
            <a:r>
              <a: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Identify key drivers of churn and retention.</a:t>
            </a:r>
          </a:p>
          <a:p>
            <a:r>
              <a: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Segment customers by risk and behavior patterns.</a:t>
            </a:r>
          </a:p>
          <a:p>
            <a:r>
              <a: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Provide actionable insights to improve customer loyalty and service delivery.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2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54B5-013E-6085-8F44-1B69C401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286467"/>
            <a:ext cx="9987116" cy="70659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E592C-C09A-47AC-1A3F-0366D5D8F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356"/>
            <a:ext cx="10515600" cy="4351338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9BCFA-854D-2741-B052-C4D8F5A7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09" y="993058"/>
            <a:ext cx="11353800" cy="498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2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8C46-3E0C-D426-6C85-B15377C0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83" y="167813"/>
            <a:ext cx="8596668" cy="96289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6356A-EA9E-78F2-7FFF-9D551A79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1" y="1036329"/>
            <a:ext cx="11110452" cy="6278871"/>
          </a:xfrm>
        </p:spPr>
        <p:txBody>
          <a:bodyPr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our data the following details are present :</a:t>
            </a: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CustomerId: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 unique identifier for each customer.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Credit-Score: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numerical representation of the customer's creditworthiness.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fontAlgn="base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Credit score: </a:t>
            </a:r>
          </a:p>
          <a:p>
            <a:pPr lvl="2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Excellent: 800–850</a:t>
            </a:r>
          </a:p>
          <a:p>
            <a:pPr lvl="2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Very Good: 740–799</a:t>
            </a:r>
          </a:p>
          <a:p>
            <a:pPr lvl="2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Good: 670–739</a:t>
            </a:r>
          </a:p>
          <a:p>
            <a:pPr lvl="2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Fair: 580–669</a:t>
            </a:r>
          </a:p>
          <a:p>
            <a:pPr lvl="2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Poor: 300–579</a:t>
            </a: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GeographyID: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 numerical identifier that likely corresponds to a geographical location, such as a country or region.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GenderID: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 numerical identifier for the customer's gender, where for example, '1' could represent male and '2' could represent female.</a:t>
            </a: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The age of the customer.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08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FED656-E1DB-2596-BA17-594260C0D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6" y="222966"/>
            <a:ext cx="12022393" cy="5932025"/>
          </a:xfrm>
        </p:spPr>
        <p:txBody>
          <a:bodyPr>
            <a:noAutofit/>
          </a:bodyPr>
          <a:lstStyle/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Tenure: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number of years the customer has been with the bank.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Balance: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Current balance in the customer's account.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NumOfProducts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refers to the number of products that a customer has purchased through the bank. 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HasCrCard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denotes whether or not a customer has a credit card. This column is also relevant, since people with a credit card are less likely to leave the bank.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1 represents credit card holder</a:t>
            </a:r>
          </a:p>
          <a:p>
            <a:pPr lvl="1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0 represents non credit card holder</a:t>
            </a: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IsActiveMember: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active customers are less likely to leave the bank (as per the criteria defined by the bank for identifying the activeness).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1 represents Active Member</a:t>
            </a:r>
          </a:p>
          <a:p>
            <a:pPr lvl="1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0 represents Inactive Member</a:t>
            </a: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Estimated Salary: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 with balance, people with lower salaries are more likely to leave the bank compared to those with higher salaries.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Exited: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whether or not the customer left the bank.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0 represents Retain </a:t>
            </a:r>
          </a:p>
          <a:p>
            <a:pPr lvl="1" fontAlgn="base"/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1 represents Exit</a:t>
            </a:r>
          </a:p>
          <a:p>
            <a:pPr fontAlgn="base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Bank DOJ: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date when the Customer associated/joined  with the bank.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44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82DE-0DE7-5616-9E8C-EE399180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Customers Acquisition over the Years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147298-AD86-3BF2-72E3-A8868F076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1196"/>
            <a:ext cx="4648849" cy="36485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95252B-F646-EF29-696D-6D158A0D2322}"/>
              </a:ext>
            </a:extLst>
          </p:cNvPr>
          <p:cNvSpPr txBox="1"/>
          <p:nvPr/>
        </p:nvSpPr>
        <p:spPr>
          <a:xfrm>
            <a:off x="5764163" y="1798488"/>
            <a:ext cx="6329515" cy="378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bank saw a </a:t>
            </a: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steady increase in new customers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every year.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Consistent growth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from 2016 to 2019 shows a positive trend.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2019 recorded the highest number (3,313 new customers)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Growth appears to be </a:t>
            </a: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accelerating each year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not just steady.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Possible reasons → stronger </a:t>
            </a: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marketing campaigns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better services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or </a:t>
            </a: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economic factors</a:t>
            </a:r>
            <a:r>
              <a:rPr lang="en-IN" sz="20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93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91E9-448A-8873-ACC3-313B93AE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0"/>
            <a:ext cx="7430729" cy="1268361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Customer Behavior Analysis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3E2E5F-A85A-E69C-77B7-84CD2293F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0599" y="1558412"/>
            <a:ext cx="5726994" cy="3505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7ABA94-0415-104A-6040-BA0D3042D1B2}"/>
              </a:ext>
            </a:extLst>
          </p:cNvPr>
          <p:cNvSpPr txBox="1"/>
          <p:nvPr/>
        </p:nvSpPr>
        <p:spPr>
          <a:xfrm>
            <a:off x="226142" y="1386348"/>
            <a:ext cx="56338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Spending peaks at 4 years of tenure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but gradually declines afterward.</a:t>
            </a:r>
          </a:p>
          <a:p>
            <a:pPr marL="342900" lvl="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Customers with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3–5 years of tenure show higher spending capacity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→ a valuable group for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targeted engagement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Longer-tenured customers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often have stronger financial stability.</a:t>
            </a:r>
          </a:p>
          <a:p>
            <a:pPr marL="342900" lvl="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However,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newer customers should not be ignored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→ early engagement is key for retention.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4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4F11-E5D7-9B2B-79FF-90C8B68B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277068"/>
            <a:ext cx="10515600" cy="132556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Salary vs. Balance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7E19-2BE5-11DF-1190-D3E29A181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5" y="1241846"/>
            <a:ext cx="5562600" cy="5050799"/>
          </a:xfrm>
        </p:spPr>
        <p:txBody>
          <a:bodyPr>
            <a:noAutofit/>
          </a:bodyPr>
          <a:lstStyle/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No clear relationship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between customer salary and balance.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Scatter shows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salary alone doesn’t strongly drive churn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→ exits and retentions are spread across all income levels.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Each dot = a customer → 🟢 Retained, 🔵 Exited.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Customers with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very high balances (&gt;150K)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show slightly higher exit probability (more exits).</a:t>
            </a:r>
          </a:p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Balance is more correlated with churn than salary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→ mid-to-high balance customers appear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more at risk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E058C-EA81-EBAE-F405-4B632A6B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348" y="1399162"/>
            <a:ext cx="5791200" cy="3644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4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1BF1-9711-0DB3-73EB-122CB95C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Product Affinity Study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847BA-A23E-449E-03C9-DA3528A8D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484" y="1652690"/>
            <a:ext cx="4481052" cy="355262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Commonly used Product: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Over 90% of the customers uses product 1 and 2.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Cross-Selling Potential: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Customers using 1 product may benefit from targeted promotions.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Active Customer Engagement: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Focus cross selling efforts on engaging customers.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285F2-AE62-1DEA-B01E-A605ADA7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98" y="1535750"/>
            <a:ext cx="4588246" cy="383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3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3AEF-F453-1176-DC81-0B983EB6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08" y="442452"/>
            <a:ext cx="8596668" cy="1320800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Geographic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market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trends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F1436-565C-5FF2-CC99-47A2C6926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20" y="1617554"/>
            <a:ext cx="5982450" cy="3896749"/>
          </a:xfrm>
        </p:spPr>
        <p:txBody>
          <a:bodyPr>
            <a:noAutofit/>
          </a:bodyPr>
          <a:lstStyle/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France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has the highest number of customers, followed by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Spain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Germany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Germany shows the highest churn rate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among all regions.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Despite churn,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over 80% of customers are retained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in France and Spain.</a:t>
            </a:r>
          </a:p>
          <a:p>
            <a:pPr lvl="0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Indicates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region-specific strategies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may be needed → focus on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Germany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improve retention.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0783B-0CEA-B8F3-F47B-FEDB8039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784" y="1617554"/>
            <a:ext cx="4923708" cy="3863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345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DAE8-51C3-8DE1-E361-F4E0C7A2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02" y="383459"/>
            <a:ext cx="8596668" cy="1320800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Risk Management Assessment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33B3D-89B2-67D4-A608-CB3F5DC1B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7874" y="1527204"/>
            <a:ext cx="5407705" cy="44901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32201C-C9BC-4C32-2C14-FB59B6C336FD}"/>
              </a:ext>
            </a:extLst>
          </p:cNvPr>
          <p:cNvSpPr txBox="1"/>
          <p:nvPr/>
        </p:nvSpPr>
        <p:spPr>
          <a:xfrm>
            <a:off x="248266" y="1782917"/>
            <a:ext cx="5847734" cy="362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Inactive members: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We can see that in the age bucket of 0-20 and 20-40 the inactive member count is highest suggesting that the younger customers might be at risk of becoming inactive.</a:t>
            </a:r>
          </a:p>
          <a:p>
            <a:pPr marL="342900" indent="-34290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Balance Distribution by age: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We can also see that the balance is at peak in age 0 -20 and then gradually decreased from 20-40 and much lower when it comes to older age customers.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04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08F6-E7F9-61BC-417A-697F7910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9" y="156013"/>
            <a:ext cx="10515600" cy="132556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Risk Management Assessment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DFC56D-13C6-2B67-FCF2-B3867A77B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86" r="55733"/>
          <a:stretch>
            <a:fillRect/>
          </a:stretch>
        </p:blipFill>
        <p:spPr>
          <a:xfrm>
            <a:off x="573907" y="1299259"/>
            <a:ext cx="3853578" cy="3452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30701B-A7AF-B460-1024-532A70CCC879}"/>
              </a:ext>
            </a:extLst>
          </p:cNvPr>
          <p:cNvSpPr txBox="1"/>
          <p:nvPr/>
        </p:nvSpPr>
        <p:spPr>
          <a:xfrm>
            <a:off x="4634015" y="1131673"/>
            <a:ext cx="69090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Risk Concentration by Age: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We can see the younger customer (0-20) and (20-40) have the majority of banks total balance. </a:t>
            </a:r>
          </a:p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Therefore, managing risk in these groups is very much important as they didn’t only posses the higher balance but the percentage of inactive members is also high.</a:t>
            </a:r>
          </a:p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While in the oldest age bucket the number of customers is low and the balance is also very low, indicating low risk in financial terms.</a:t>
            </a:r>
          </a:p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fontAlgn="base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Strategy: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Since the younger age customers carry the higher balance the efforts to increase engagement and customer retention among inactive younger customer can be beneficial. </a:t>
            </a:r>
          </a:p>
        </p:txBody>
      </p:sp>
    </p:spTree>
    <p:extLst>
      <p:ext uri="{BB962C8B-B14F-4D97-AF65-F5344CB8AC3E}">
        <p14:creationId xmlns:p14="http://schemas.microsoft.com/office/powerpoint/2010/main" val="23613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EAB8-1DB2-E0CB-13F8-7CF55188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52" y="356541"/>
            <a:ext cx="7840342" cy="1800357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Customer Lifetime Value Forecast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1F577B-ABC2-E601-C28B-D3A9B488F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7108" y="1480300"/>
            <a:ext cx="5029133" cy="41741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098579-D309-3ED6-4AB1-BB2115C7A748}"/>
              </a:ext>
            </a:extLst>
          </p:cNvPr>
          <p:cNvSpPr txBox="1"/>
          <p:nvPr/>
        </p:nvSpPr>
        <p:spPr>
          <a:xfrm>
            <a:off x="611791" y="1480300"/>
            <a:ext cx="600531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Credit Card Usage and Exit Rates: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Lower exit rates among credit card holders.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Female customers have slightly higher exit rates. 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Tenure and Financial Metrics: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Stable financial behavior over time.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Credit Score and Account Balance: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Higher credit scores linked to higher average balances. 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Credit score not sole determinant of account balance.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76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EAD7-4ACA-425C-FFA3-36C0876A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200332"/>
            <a:ext cx="9449893" cy="80328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Average balance by credit score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D9352A-CDAD-616C-82E1-8F1CC24CB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5722" y="1682032"/>
            <a:ext cx="5536558" cy="4230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033DDF-4632-6AC7-9B0F-8B8ACF8166F4}"/>
              </a:ext>
            </a:extLst>
          </p:cNvPr>
          <p:cNvSpPr txBox="1"/>
          <p:nvPr/>
        </p:nvSpPr>
        <p:spPr>
          <a:xfrm>
            <a:off x="244810" y="1446067"/>
            <a:ext cx="6260912" cy="4340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We can see that the Very Good and excellent credit score have the higher average balance. </a:t>
            </a:r>
            <a:endParaRPr lang="en-I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Mangal" panose="02040503050203030202" pitchFamily="18" charset="0"/>
            </a:endParaRPr>
          </a:p>
          <a:p>
            <a:pPr marL="342900" indent="-34290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average balance does not decreases with the decrease in credit score categories indicating that the customers with lower credit scores can hold sufficient balance.</a:t>
            </a:r>
            <a:endParaRPr lang="en-I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Mangal" panose="02040503050203030202" pitchFamily="18" charset="0"/>
            </a:endParaRPr>
          </a:p>
          <a:p>
            <a:pPr marL="342900" indent="-34290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Therefore it shows that the credit score is not the strong indicator of the balance size. </a:t>
            </a:r>
          </a:p>
          <a:p>
            <a:pPr marL="342900" indent="-34290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Strategy:</a:t>
            </a:r>
            <a:r>
              <a:rPr lang="en-I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For Good and Fair categories bank should focus on enhancing the relationship and encourage the customer for more product usage.</a:t>
            </a:r>
            <a:r>
              <a:rPr lang="en-I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Mangal" panose="02040503050203030202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7087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27F4-8D52-9BE2-C9C2-65B3E97A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Churn Count and Average Balance by Geography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0AD5-FC86-12E8-9E8B-FE65897A0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336" y="1845959"/>
            <a:ext cx="6017343" cy="3748596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endParaRPr lang="en-US" alt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Germany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shows the highest churn count (~1K) and also the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highest average balance (120K)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meaning high-value customers are leaving.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France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Spain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have lower average balances (~62K each), but churn counts are also notable.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bank risks losing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its most profitable segment in Germany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which could heavily impact revenue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2AACB-44F6-A558-4450-1E9F0A9CA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21" y="2083702"/>
            <a:ext cx="4383373" cy="35108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3725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812B-43ED-FE79-694A-7178F651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Customer distribution across regions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BF73C-55C5-9347-8ED1-347E028E9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0982" y="2114493"/>
            <a:ext cx="5392065" cy="3927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67EC2F-DE3F-5C42-9002-72F39C2162B6}"/>
              </a:ext>
            </a:extLst>
          </p:cNvPr>
          <p:cNvSpPr txBox="1"/>
          <p:nvPr/>
        </p:nvSpPr>
        <p:spPr>
          <a:xfrm>
            <a:off x="387443" y="1933677"/>
            <a:ext cx="5797047" cy="35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We can observe that France has the highest numbers of customers followed by Germany and Spain with varying market sizes indicating the potential opportunities for expanding business activities.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Mangal" panose="02040503050203030202" pitchFamily="18" charset="0"/>
            </a:endParaRPr>
          </a:p>
          <a:p>
            <a:pPr marL="285750" indent="-28575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Mangal" panose="02040503050203030202" pitchFamily="18" charset="0"/>
              </a:rPr>
              <a:t>O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ver 80% of the customers remain retained in various regions particularly, in France and Spain. </a:t>
            </a:r>
          </a:p>
          <a:p>
            <a:pPr marL="285750" indent="-285750" fontAlgn="base">
              <a:lnSpc>
                <a:spcPct val="115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</a:t>
            </a:r>
            <a:r>
              <a:rPr lang="en-IN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here there is higher churn rate and retention strategies are needed therefore.</a:t>
            </a:r>
            <a:endParaRPr lang="en-I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618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6862-D88C-3450-A985-FC44ADC7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Comparative Analysis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7DF4-F45F-E762-7012-0FE2E7AC7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4006" cy="3837756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Here, we can see that Fair credit category has the higher exit rate followed by Poor category.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 per the number of customers we can see that in all the credit categories the retention rate is good enough.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Therefore we can say that the credit scores do not have any impact on churn rates.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3F72C-262C-1375-4BCB-6D00E9856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822" y="1361389"/>
            <a:ext cx="5576449" cy="39578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8937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DE90-DF9F-FCFA-CEB4-21C3D767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3" y="196646"/>
            <a:ext cx="8596668" cy="1320800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KEY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0328-9D69-64B0-C988-6A452E453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757" y="996337"/>
            <a:ext cx="11642485" cy="388077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Imbalanced Data Distribution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Churned customers were significantly fewer than active customers, making it challenging to build balanced predictive models.</a:t>
            </a:r>
          </a:p>
          <a:p>
            <a:pPr>
              <a:buFont typeface="+mj-lt"/>
              <a:buAutoNum type="arabicPeriod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Quality &amp; Missing Values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Incomplete customer details (e.g., income, spending behavior) restricted deeper insights and required additional preprocessing.</a:t>
            </a:r>
          </a:p>
          <a:p>
            <a:pPr>
              <a:buFont typeface="+mj-lt"/>
              <a:buAutoNum type="arabicPeriod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Feature Complexity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Multiple influencing factors (tenure, credit score, geography, age, etc.) made it difficult to isolate the strongest churn drivers.</a:t>
            </a:r>
          </a:p>
          <a:p>
            <a:pPr>
              <a:buFont typeface="+mj-lt"/>
              <a:buAutoNum type="arabicPeriod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Regional Variations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Customer behavior varied widely by geography (France, Spain, Germany), requiring tailored analysis instead of a one-size-fits-all approach.</a:t>
            </a:r>
          </a:p>
          <a:p>
            <a:pPr>
              <a:buFont typeface="+mj-lt"/>
              <a:buAutoNum type="arabicPeriod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Limited Behavioral Data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Transaction-level or product usage data was not fully available, restricting analysis to demographics and high-level attributes.</a:t>
            </a:r>
          </a:p>
          <a:p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873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BEE7-C3A8-C927-CB2A-A013D347D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4" y="153856"/>
            <a:ext cx="10577051" cy="878531"/>
          </a:xfrm>
        </p:spPr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1ABA9-692A-42D0-81E8-066B3B51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4" y="934468"/>
            <a:ext cx="11186652" cy="5923532"/>
          </a:xfrm>
        </p:spPr>
        <p:txBody>
          <a:bodyPr>
            <a:noAutofit/>
          </a:bodyPr>
          <a:lstStyle/>
          <a:p>
            <a:pPr marL="342900" indent="-34290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Despite the increase in the number of customers over the years, the bank has experienced a consistent churn rate.</a:t>
            </a:r>
          </a:p>
          <a:p>
            <a:pPr marL="342900" indent="-34290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Middle age group customers have the highest churn rates, indicating specific retention challenges.</a:t>
            </a:r>
          </a:p>
          <a:p>
            <a:pPr marL="342900" indent="-34290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Improving customer engagement, enhancing customer service, and offering competitive products or services are key strategies to reduce churn.</a:t>
            </a:r>
          </a:p>
          <a:p>
            <a:pPr marL="342900" indent="-34290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Targeted marketing and personalized offers can help retain customers in critical age and credit score groups.</a:t>
            </a:r>
          </a:p>
          <a:p>
            <a:pPr marL="342900" indent="-34290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have also seen that customer with highest average balance are more likely to churn, in this case targeted marketing and personalized offers can help in retaining those customers.</a:t>
            </a:r>
          </a:p>
          <a:p>
            <a:pPr marL="342900" indent="-342900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Overall, by focusing on customer engagement, service enhancement, and targeted strategies for specific customer segments, the bank can reduce churn, improve customer retention, and foster long-term customer loyalty.</a:t>
            </a:r>
          </a:p>
          <a:p>
            <a:pPr marL="342900" indent="-342900"/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Target High-Risk Segments</a:t>
            </a:r>
          </a:p>
          <a:p>
            <a:pPr marL="342900" indent="-342900"/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Develop retention programs for females 50+ and German customers, as they show the highest churn.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099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DD2A9-4D93-5CC2-7510-CC1F83FC8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40"/>
            <a:ext cx="12192000" cy="684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03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289197-2FD0-FD3B-79D3-7FDB035D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95"/>
            <a:ext cx="12192000" cy="680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24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AC68A6-FEBE-0A9E-C0DF-4E5A2375E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78"/>
            <a:ext cx="12192000" cy="680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66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B99B6-C78B-6C09-6181-7A710C8B9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1" y="0"/>
            <a:ext cx="12136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67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2A41-A4ED-B97D-FA7C-487991CE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Reference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1737B-D949-D25B-4BF3-6F401EC87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: From Newton School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Applications Used: MS Word, MS Power Point,  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MySQL, Power BI.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503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333B-6404-1D1F-6215-8000C87DF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631018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</TotalTime>
  <Words>1536</Words>
  <Application>Microsoft Office PowerPoint</Application>
  <PresentationFormat>Widescreen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Cambria</vt:lpstr>
      <vt:lpstr>Cambria Math</vt:lpstr>
      <vt:lpstr>Courier New</vt:lpstr>
      <vt:lpstr>Trebuchet MS</vt:lpstr>
      <vt:lpstr>Wingdings</vt:lpstr>
      <vt:lpstr>Wingdings 3</vt:lpstr>
      <vt:lpstr>Facet</vt:lpstr>
      <vt:lpstr>PowerPoint Presentation</vt:lpstr>
      <vt:lpstr>Bank Customer Churn Analysis “Turning Data Into Insights To Retain Customers.”</vt:lpstr>
      <vt:lpstr>“Why do customers leave the bank?”</vt:lpstr>
      <vt:lpstr>Data Understanding</vt:lpstr>
      <vt:lpstr>Data Description </vt:lpstr>
      <vt:lpstr>PowerPoint Presentation</vt:lpstr>
      <vt:lpstr>Customers Acquisition over the Years</vt:lpstr>
      <vt:lpstr>Customer Behavior Analysis</vt:lpstr>
      <vt:lpstr>Salary vs. Balance</vt:lpstr>
      <vt:lpstr>Product Affinity Study</vt:lpstr>
      <vt:lpstr>Geographic market trends</vt:lpstr>
      <vt:lpstr>Risk Management Assessment</vt:lpstr>
      <vt:lpstr>Risk Management Assessment</vt:lpstr>
      <vt:lpstr>Customer Lifetime Value Forecast </vt:lpstr>
      <vt:lpstr>Average balance by credit score</vt:lpstr>
      <vt:lpstr>Churn Count and Average Balance by Geography</vt:lpstr>
      <vt:lpstr>Customer distribution across regions</vt:lpstr>
      <vt:lpstr>Comparative Analysis</vt:lpstr>
      <vt:lpstr>KEY ISSUES</vt:lpstr>
      <vt:lpstr>Conclusion</vt:lpstr>
      <vt:lpstr>PowerPoint Presentation</vt:lpstr>
      <vt:lpstr>PowerPoint Presentation</vt:lpstr>
      <vt:lpstr>PowerPoint Presentation</vt:lpstr>
      <vt:lpstr>PowerPoint Presentation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Afreen Qureshi</dc:creator>
  <cp:lastModifiedBy>M S</cp:lastModifiedBy>
  <cp:revision>5</cp:revision>
  <dcterms:created xsi:type="dcterms:W3CDTF">2025-08-27T00:32:47Z</dcterms:created>
  <dcterms:modified xsi:type="dcterms:W3CDTF">2026-08-16T07:30:53Z</dcterms:modified>
</cp:coreProperties>
</file>